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Insert your six-sample image figure from the notebook (Cell 4) on this slide or the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 prediction cell live here. Credit the image sources.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accuracy and loss curves and the confusion matrix from the notebook here. Biggest confusion: glass predicted as metal (12 images). Training accuracy about 84% vs validation about 70% shows overfitting.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142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50284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F4F2EC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type="body" idx="101"/>
          </p:nvPr>
        </p:nvSpPr>
        <p:spPr>
          <a:xfrm>
            <a:off x="812800" y="1620441"/>
            <a:ext cx="10566400" cy="442475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F4F2EC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50284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F4F2EC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type="body" idx="101"/>
          </p:nvPr>
        </p:nvSpPr>
        <p:spPr>
          <a:xfrm>
            <a:off x="812800" y="1620441"/>
            <a:ext cx="10566400" cy="442475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F4F2EC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24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E8A33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Deep Learning practical · CNN image classification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796455"/>
            <a:ext cx="10883392" cy="71874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460"/>
              </a:lnSpc>
              <a:buNone/>
            </a:pPr>
            <a:r>
              <a:rPr lang="en-US" sz="5200" b="0" i="0" dirty="0">
                <a:solidFill>
                  <a:srgbClr val="F4F2EC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Waste Classification with a CNN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12800" y="3224510"/>
            <a:ext cx="10883392" cy="3556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F4F2EC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Telling cardboard, glass, metal, paper, plastic and trash apart from a photo.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12800" y="4289524"/>
            <a:ext cx="10883392" cy="594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B9D4C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Mixed waste contaminates recycling. A model that recognises the material from a photo could guide sorting at the source, in smart bins or on sorting lines.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24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4231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Dataset: 2,527 photos in six classes</a:t>
            </a:r>
            <a:endParaRPr lang="en-US" sz="3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/>
        </p:nvGraphicFramePr>
        <p:xfrm>
          <a:off x="825500" y="1582341"/>
          <a:ext cx="5448300" cy="2701727"/>
        </p:xfrm>
        <a:graphic>
          <a:graphicData uri="http://schemas.openxmlformats.org/drawingml/2006/table">
            <a:tbl>
              <a:tblPr/>
              <a:tblGrid>
                <a:gridCol w="1816100"/>
                <a:gridCol w="1816100"/>
                <a:gridCol w="1816100"/>
              </a:tblGrid>
              <a:tr h="38596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4231F"/>
                          </a:solidFill>
                          <a:latin typeface="Georgia" panose="02040502050405020303" pitchFamily="34" charset="0"/>
                          <a:ea typeface="Georgia" panose="02040502050405020303" pitchFamily="34" charset="-122"/>
                          <a:cs typeface="Georgia" panose="02040502050405020303" pitchFamily="34" charset="-120"/>
                        </a:rPr>
                        <a:t>Class</a:t>
                      </a:r>
                      <a:endParaRPr lang="en-US" sz="1400" dirty="0">
                        <a:latin typeface="Georgia" panose="02040502050405020303" pitchFamily="34" charset="0"/>
                        <a:ea typeface="Georgia" panose="02040502050405020303" pitchFamily="34" charset="0"/>
                        <a:cs typeface="Georgia" panose="02040502050405020303" pitchFamily="3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0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4231F"/>
                          </a:solidFill>
                          <a:latin typeface="Georgia" panose="02040502050405020303" pitchFamily="34" charset="0"/>
                          <a:ea typeface="Georgia" panose="02040502050405020303" pitchFamily="34" charset="-122"/>
                          <a:cs typeface="Georgia" panose="02040502050405020303" pitchFamily="34" charset="-120"/>
                        </a:rPr>
                        <a:t>Total</a:t>
                      </a:r>
                      <a:endParaRPr lang="en-US" sz="1400" dirty="0">
                        <a:latin typeface="Georgia" panose="02040502050405020303" pitchFamily="34" charset="0"/>
                        <a:ea typeface="Georgia" panose="02040502050405020303" pitchFamily="34" charset="0"/>
                        <a:cs typeface="Georgia" panose="02040502050405020303" pitchFamily="3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0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4231F"/>
                          </a:solidFill>
                          <a:latin typeface="Georgia" panose="02040502050405020303" pitchFamily="34" charset="0"/>
                          <a:ea typeface="Georgia" panose="02040502050405020303" pitchFamily="34" charset="-122"/>
                          <a:cs typeface="Georgia" panose="02040502050405020303" pitchFamily="34" charset="-120"/>
                        </a:rPr>
                        <a:t>Train / Val / Test</a:t>
                      </a:r>
                      <a:endParaRPr lang="en-US" sz="1400" dirty="0">
                        <a:latin typeface="Georgia" panose="02040502050405020303" pitchFamily="34" charset="0"/>
                        <a:ea typeface="Georgia" panose="02040502050405020303" pitchFamily="34" charset="0"/>
                        <a:cs typeface="Georgia" panose="02040502050405020303" pitchFamily="3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0DB"/>
                    </a:solidFill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31F"/>
                          </a:solidFill>
                          <a:latin typeface="Georgia" panose="02040502050405020303" pitchFamily="34" charset="0"/>
                          <a:ea typeface="Georgia" panose="02040502050405020303" pitchFamily="34" charset="-122"/>
                          <a:cs typeface="Georgia" panose="02040502050405020303" pitchFamily="34" charset="-120"/>
                        </a:rPr>
                        <a:t>cardboard</a:t>
                      </a:r>
                      <a:endParaRPr lang="en-US" sz="1400" dirty="0">
                        <a:latin typeface="Georgia" panose="02040502050405020303" pitchFamily="34" charset="0"/>
                        <a:ea typeface="Georgia" panose="02040502050405020303" pitchFamily="34" charset="0"/>
                        <a:cs typeface="Georgia" panose="02040502050405020303" pitchFamily="3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31F"/>
                          </a:solidFill>
                          <a:latin typeface="Georgia" panose="02040502050405020303" pitchFamily="34" charset="0"/>
                          <a:ea typeface="Georgia" panose="02040502050405020303" pitchFamily="34" charset="-122"/>
                          <a:cs typeface="Georgia" panose="02040502050405020303" pitchFamily="34" charset="-120"/>
                        </a:rPr>
                        <a:t>403</a:t>
                      </a:r>
                      <a:endParaRPr lang="en-US" sz="1400" dirty="0">
                        <a:latin typeface="Georgia" panose="02040502050405020303" pitchFamily="34" charset="0"/>
                        <a:ea typeface="Georgia" panose="02040502050405020303" pitchFamily="34" charset="0"/>
                        <a:cs typeface="Georgia" panose="02040502050405020303" pitchFamily="3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31F"/>
                          </a:solidFill>
                          <a:latin typeface="Georgia" panose="02040502050405020303" pitchFamily="34" charset="0"/>
                          <a:ea typeface="Georgia" panose="02040502050405020303" pitchFamily="34" charset="-122"/>
                          <a:cs typeface="Georgia" panose="02040502050405020303" pitchFamily="34" charset="-120"/>
                        </a:rPr>
                        <a:t>282 / 61 / 60</a:t>
                      </a:r>
                      <a:endParaRPr lang="en-US" sz="1400" dirty="0">
                        <a:latin typeface="Georgia" panose="02040502050405020303" pitchFamily="34" charset="0"/>
                        <a:ea typeface="Georgia" panose="02040502050405020303" pitchFamily="34" charset="0"/>
                        <a:cs typeface="Georgia" panose="02040502050405020303" pitchFamily="3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31F"/>
                          </a:solidFill>
                          <a:latin typeface="Georgia" panose="02040502050405020303" pitchFamily="34" charset="0"/>
                          <a:ea typeface="Georgia" panose="02040502050405020303" pitchFamily="34" charset="-122"/>
                          <a:cs typeface="Georgia" panose="02040502050405020303" pitchFamily="34" charset="-120"/>
                        </a:rPr>
                        <a:t>glass</a:t>
                      </a:r>
                      <a:endParaRPr lang="en-US" sz="1400" dirty="0">
                        <a:latin typeface="Georgia" panose="02040502050405020303" pitchFamily="34" charset="0"/>
                        <a:ea typeface="Georgia" panose="02040502050405020303" pitchFamily="34" charset="0"/>
                        <a:cs typeface="Georgia" panose="02040502050405020303" pitchFamily="3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31F"/>
                          </a:solidFill>
                          <a:latin typeface="Georgia" panose="02040502050405020303" pitchFamily="34" charset="0"/>
                          <a:ea typeface="Georgia" panose="02040502050405020303" pitchFamily="34" charset="-122"/>
                          <a:cs typeface="Georgia" panose="02040502050405020303" pitchFamily="34" charset="-120"/>
                        </a:rPr>
                        <a:t>501</a:t>
                      </a:r>
                      <a:endParaRPr lang="en-US" sz="1400" dirty="0">
                        <a:latin typeface="Georgia" panose="02040502050405020303" pitchFamily="34" charset="0"/>
                        <a:ea typeface="Georgia" panose="02040502050405020303" pitchFamily="34" charset="0"/>
                        <a:cs typeface="Georgia" panose="02040502050405020303" pitchFamily="3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31F"/>
                          </a:solidFill>
                          <a:latin typeface="Georgia" panose="02040502050405020303" pitchFamily="34" charset="0"/>
                          <a:ea typeface="Georgia" panose="02040502050405020303" pitchFamily="34" charset="-122"/>
                          <a:cs typeface="Georgia" panose="02040502050405020303" pitchFamily="34" charset="-120"/>
                        </a:rPr>
                        <a:t>350 / 75 / 76</a:t>
                      </a:r>
                      <a:endParaRPr lang="en-US" sz="1400" dirty="0">
                        <a:latin typeface="Georgia" panose="02040502050405020303" pitchFamily="34" charset="0"/>
                        <a:ea typeface="Georgia" panose="02040502050405020303" pitchFamily="34" charset="0"/>
                        <a:cs typeface="Georgia" panose="02040502050405020303" pitchFamily="3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31F"/>
                          </a:solidFill>
                          <a:latin typeface="Georgia" panose="02040502050405020303" pitchFamily="34" charset="0"/>
                          <a:ea typeface="Georgia" panose="02040502050405020303" pitchFamily="34" charset="-122"/>
                          <a:cs typeface="Georgia" panose="02040502050405020303" pitchFamily="34" charset="-120"/>
                        </a:rPr>
                        <a:t>metal</a:t>
                      </a:r>
                      <a:endParaRPr lang="en-US" sz="1400" dirty="0">
                        <a:latin typeface="Georgia" panose="02040502050405020303" pitchFamily="34" charset="0"/>
                        <a:ea typeface="Georgia" panose="02040502050405020303" pitchFamily="34" charset="0"/>
                        <a:cs typeface="Georgia" panose="02040502050405020303" pitchFamily="3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31F"/>
                          </a:solidFill>
                          <a:latin typeface="Georgia" panose="02040502050405020303" pitchFamily="34" charset="0"/>
                          <a:ea typeface="Georgia" panose="02040502050405020303" pitchFamily="34" charset="-122"/>
                          <a:cs typeface="Georgia" panose="02040502050405020303" pitchFamily="34" charset="-120"/>
                        </a:rPr>
                        <a:t>410</a:t>
                      </a:r>
                      <a:endParaRPr lang="en-US" sz="1400" dirty="0">
                        <a:latin typeface="Georgia" panose="02040502050405020303" pitchFamily="34" charset="0"/>
                        <a:ea typeface="Georgia" panose="02040502050405020303" pitchFamily="34" charset="0"/>
                        <a:cs typeface="Georgia" panose="02040502050405020303" pitchFamily="3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31F"/>
                          </a:solidFill>
                          <a:latin typeface="Georgia" panose="02040502050405020303" pitchFamily="34" charset="0"/>
                          <a:ea typeface="Georgia" panose="02040502050405020303" pitchFamily="34" charset="-122"/>
                          <a:cs typeface="Georgia" panose="02040502050405020303" pitchFamily="34" charset="-120"/>
                        </a:rPr>
                        <a:t>287 / 61 / 62</a:t>
                      </a:r>
                      <a:endParaRPr lang="en-US" sz="1400" dirty="0">
                        <a:latin typeface="Georgia" panose="02040502050405020303" pitchFamily="34" charset="0"/>
                        <a:ea typeface="Georgia" panose="02040502050405020303" pitchFamily="34" charset="0"/>
                        <a:cs typeface="Georgia" panose="02040502050405020303" pitchFamily="3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31F"/>
                          </a:solidFill>
                          <a:latin typeface="Georgia" panose="02040502050405020303" pitchFamily="34" charset="0"/>
                          <a:ea typeface="Georgia" panose="02040502050405020303" pitchFamily="34" charset="-122"/>
                          <a:cs typeface="Georgia" panose="02040502050405020303" pitchFamily="34" charset="-120"/>
                        </a:rPr>
                        <a:t>paper</a:t>
                      </a:r>
                      <a:endParaRPr lang="en-US" sz="1400" dirty="0">
                        <a:latin typeface="Georgia" panose="02040502050405020303" pitchFamily="34" charset="0"/>
                        <a:ea typeface="Georgia" panose="02040502050405020303" pitchFamily="34" charset="0"/>
                        <a:cs typeface="Georgia" panose="02040502050405020303" pitchFamily="3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31F"/>
                          </a:solidFill>
                          <a:latin typeface="Georgia" panose="02040502050405020303" pitchFamily="34" charset="0"/>
                          <a:ea typeface="Georgia" panose="02040502050405020303" pitchFamily="34" charset="-122"/>
                          <a:cs typeface="Georgia" panose="02040502050405020303" pitchFamily="34" charset="-120"/>
                        </a:rPr>
                        <a:t>594</a:t>
                      </a:r>
                      <a:endParaRPr lang="en-US" sz="1400" dirty="0">
                        <a:latin typeface="Georgia" panose="02040502050405020303" pitchFamily="34" charset="0"/>
                        <a:ea typeface="Georgia" panose="02040502050405020303" pitchFamily="34" charset="0"/>
                        <a:cs typeface="Georgia" panose="02040502050405020303" pitchFamily="3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31F"/>
                          </a:solidFill>
                          <a:latin typeface="Georgia" panose="02040502050405020303" pitchFamily="34" charset="0"/>
                          <a:ea typeface="Georgia" panose="02040502050405020303" pitchFamily="34" charset="-122"/>
                          <a:cs typeface="Georgia" panose="02040502050405020303" pitchFamily="34" charset="-120"/>
                        </a:rPr>
                        <a:t>416 / 89 / 89</a:t>
                      </a:r>
                      <a:endParaRPr lang="en-US" sz="1400" dirty="0">
                        <a:latin typeface="Georgia" panose="02040502050405020303" pitchFamily="34" charset="0"/>
                        <a:ea typeface="Georgia" panose="02040502050405020303" pitchFamily="34" charset="0"/>
                        <a:cs typeface="Georgia" panose="02040502050405020303" pitchFamily="3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31F"/>
                          </a:solidFill>
                          <a:latin typeface="Georgia" panose="02040502050405020303" pitchFamily="34" charset="0"/>
                          <a:ea typeface="Georgia" panose="02040502050405020303" pitchFamily="34" charset="-122"/>
                          <a:cs typeface="Georgia" panose="02040502050405020303" pitchFamily="34" charset="-120"/>
                        </a:rPr>
                        <a:t>plastic</a:t>
                      </a:r>
                      <a:endParaRPr lang="en-US" sz="1400" dirty="0">
                        <a:latin typeface="Georgia" panose="02040502050405020303" pitchFamily="34" charset="0"/>
                        <a:ea typeface="Georgia" panose="02040502050405020303" pitchFamily="34" charset="0"/>
                        <a:cs typeface="Georgia" panose="02040502050405020303" pitchFamily="3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31F"/>
                          </a:solidFill>
                          <a:latin typeface="Georgia" panose="02040502050405020303" pitchFamily="34" charset="0"/>
                          <a:ea typeface="Georgia" panose="02040502050405020303" pitchFamily="34" charset="-122"/>
                          <a:cs typeface="Georgia" panose="02040502050405020303" pitchFamily="34" charset="-120"/>
                        </a:rPr>
                        <a:t>482</a:t>
                      </a:r>
                      <a:endParaRPr lang="en-US" sz="1400" dirty="0">
                        <a:latin typeface="Georgia" panose="02040502050405020303" pitchFamily="34" charset="0"/>
                        <a:ea typeface="Georgia" panose="02040502050405020303" pitchFamily="34" charset="0"/>
                        <a:cs typeface="Georgia" panose="02040502050405020303" pitchFamily="3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31F"/>
                          </a:solidFill>
                          <a:latin typeface="Georgia" panose="02040502050405020303" pitchFamily="34" charset="0"/>
                          <a:ea typeface="Georgia" panose="02040502050405020303" pitchFamily="34" charset="-122"/>
                          <a:cs typeface="Georgia" panose="02040502050405020303" pitchFamily="34" charset="-120"/>
                        </a:rPr>
                        <a:t>337 / 72 / 73</a:t>
                      </a:r>
                      <a:endParaRPr lang="en-US" sz="1400" dirty="0">
                        <a:latin typeface="Georgia" panose="02040502050405020303" pitchFamily="34" charset="0"/>
                        <a:ea typeface="Georgia" panose="02040502050405020303" pitchFamily="34" charset="0"/>
                        <a:cs typeface="Georgia" panose="02040502050405020303" pitchFamily="3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31F"/>
                          </a:solidFill>
                          <a:latin typeface="Georgia" panose="02040502050405020303" pitchFamily="34" charset="0"/>
                          <a:ea typeface="Georgia" panose="02040502050405020303" pitchFamily="34" charset="-122"/>
                          <a:cs typeface="Georgia" panose="02040502050405020303" pitchFamily="34" charset="-120"/>
                        </a:rPr>
                        <a:t>trash</a:t>
                      </a:r>
                      <a:endParaRPr lang="en-US" sz="1400" dirty="0">
                        <a:latin typeface="Georgia" panose="02040502050405020303" pitchFamily="34" charset="0"/>
                        <a:ea typeface="Georgia" panose="02040502050405020303" pitchFamily="34" charset="0"/>
                        <a:cs typeface="Georgia" panose="02040502050405020303" pitchFamily="3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31F"/>
                          </a:solidFill>
                          <a:latin typeface="Georgia" panose="02040502050405020303" pitchFamily="34" charset="0"/>
                          <a:ea typeface="Georgia" panose="02040502050405020303" pitchFamily="34" charset="-122"/>
                          <a:cs typeface="Georgia" panose="02040502050405020303" pitchFamily="34" charset="-120"/>
                        </a:rPr>
                        <a:t>137</a:t>
                      </a:r>
                      <a:endParaRPr lang="en-US" sz="1400" dirty="0">
                        <a:latin typeface="Georgia" panose="02040502050405020303" pitchFamily="34" charset="0"/>
                        <a:ea typeface="Georgia" panose="02040502050405020303" pitchFamily="34" charset="0"/>
                        <a:cs typeface="Georgia" panose="02040502050405020303" pitchFamily="3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31F"/>
                          </a:solidFill>
                          <a:latin typeface="Georgia" panose="02040502050405020303" pitchFamily="34" charset="0"/>
                          <a:ea typeface="Georgia" panose="02040502050405020303" pitchFamily="34" charset="-122"/>
                          <a:cs typeface="Georgia" panose="02040502050405020303" pitchFamily="34" charset="-120"/>
                        </a:rPr>
                        <a:t>96 / 21 / 20</a:t>
                      </a:r>
                      <a:endParaRPr lang="en-US" sz="1400" dirty="0">
                        <a:latin typeface="Georgia" panose="02040502050405020303" pitchFamily="34" charset="0"/>
                        <a:ea typeface="Georgia" panose="02040502050405020303" pitchFamily="34" charset="0"/>
                        <a:cs typeface="Georgia" panose="02040502050405020303" pitchFamily="3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683375" y="1572816"/>
            <a:ext cx="4692650" cy="628650"/>
          </a:xfrm>
          <a:prstGeom prst="roundRect">
            <a:avLst>
              <a:gd name="adj" fmla="val 15657"/>
            </a:avLst>
          </a:prstGeom>
          <a:solidFill>
            <a:srgbClr val="FFFFFF"/>
          </a:solidFill>
          <a:ln w="6350">
            <a:solidFill>
              <a:srgbClr val="D9DCD6"/>
            </a:solidFill>
            <a:prstDash val="solid"/>
          </a:ln>
        </p:spPr>
        <p:txBody>
          <a:bodyPr wrap="square" lIns="152147" tIns="152147" rIns="22226" bIns="126747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4231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Resized to 128 × 128 pixels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683375" y="2334816"/>
            <a:ext cx="4692650" cy="628650"/>
          </a:xfrm>
          <a:prstGeom prst="roundRect">
            <a:avLst>
              <a:gd name="adj" fmla="val 15657"/>
            </a:avLst>
          </a:prstGeom>
          <a:solidFill>
            <a:srgbClr val="FFFFFF"/>
          </a:solidFill>
          <a:ln w="6350">
            <a:solidFill>
              <a:srgbClr val="D9DCD6"/>
            </a:solidFill>
            <a:prstDash val="solid"/>
          </a:ln>
        </p:spPr>
        <p:txBody>
          <a:bodyPr wrap="square" lIns="152147" tIns="152147" rIns="22226" bIns="126747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4231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Pixel values ÷ 255, so 0 to 1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683375" y="3096816"/>
            <a:ext cx="4692650" cy="628650"/>
          </a:xfrm>
          <a:prstGeom prst="roundRect">
            <a:avLst>
              <a:gd name="adj" fmla="val 15657"/>
            </a:avLst>
          </a:prstGeom>
          <a:solidFill>
            <a:srgbClr val="FFFFFF"/>
          </a:solidFill>
          <a:ln w="6350">
            <a:solidFill>
              <a:srgbClr val="D9DCD6"/>
            </a:solidFill>
            <a:prstDash val="solid"/>
          </a:ln>
        </p:spPr>
        <p:txBody>
          <a:bodyPr wrap="square" lIns="152147" tIns="152147" rIns="22226" bIns="126747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4231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Stratified 70 / 15 / 15 split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680200" y="3855641"/>
            <a:ext cx="4699000" cy="622300"/>
          </a:xfrm>
          <a:prstGeom prst="roundRect">
            <a:avLst>
              <a:gd name="adj" fmla="val 16327"/>
            </a:avLst>
          </a:prstGeom>
          <a:solidFill>
            <a:srgbClr val="14231F"/>
          </a:solidFill>
        </p:spPr>
        <p:txBody>
          <a:bodyPr wrap="square" lIns="148042" tIns="148042" rIns="17740" bIns="122642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4F2EC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Trash is the smallest class: 137 images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12800" y="6238280"/>
            <a:ext cx="7004090" cy="2387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675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Source: Kaggle, Garbage Classification (cchangcs). </a:t>
            </a:r>
            <a:endParaRPr lang="en-US" sz="1200" dirty="0"/>
          </a:p>
        </p:txBody>
      </p:sp>
      <p:sp>
        <p:nvSpPr>
          <p:cNvPr id="9" name="Text Box 8"/>
          <p:cNvSpPr txBox="1"/>
          <p:nvPr/>
        </p:nvSpPr>
        <p:spPr>
          <a:xfrm>
            <a:off x="5939790" y="484124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24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F4F2EC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CNN architecture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569641"/>
            <a:ext cx="10883392" cy="2921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B9D4C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Input 128 × 128 × 3, then random flip, rotation and zoom (training only)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12800" y="2090341"/>
            <a:ext cx="1991320" cy="1447602"/>
          </a:xfrm>
          <a:prstGeom prst="roundRect">
            <a:avLst>
              <a:gd name="adj" fmla="val 7019"/>
            </a:avLst>
          </a:prstGeom>
          <a:solidFill>
            <a:srgbClr val="1F3A33"/>
          </a:solidFill>
        </p:spPr>
      </p:sp>
      <p:sp>
        <p:nvSpPr>
          <p:cNvPr id="5" name="Text 3"/>
          <p:cNvSpPr/>
          <p:nvPr/>
        </p:nvSpPr>
        <p:spPr>
          <a:xfrm>
            <a:off x="1016000" y="2293541"/>
            <a:ext cx="1635720" cy="2844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E8A33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Conv 32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16000" y="2641501"/>
            <a:ext cx="1635720" cy="71864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4F2EC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Finds edges and colours; max-pool halves the size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956520" y="2090341"/>
            <a:ext cx="1991420" cy="1447602"/>
          </a:xfrm>
          <a:prstGeom prst="roundRect">
            <a:avLst>
              <a:gd name="adj" fmla="val 7019"/>
            </a:avLst>
          </a:prstGeom>
          <a:solidFill>
            <a:srgbClr val="1F3A33"/>
          </a:solidFill>
        </p:spPr>
      </p:sp>
      <p:sp>
        <p:nvSpPr>
          <p:cNvPr id="8" name="Text 6"/>
          <p:cNvSpPr/>
          <p:nvPr/>
        </p:nvSpPr>
        <p:spPr>
          <a:xfrm>
            <a:off x="3159720" y="2293541"/>
            <a:ext cx="1635820" cy="2844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E8A33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Conv 64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159720" y="2641501"/>
            <a:ext cx="1635820" cy="48756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4F2EC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Combines them into textures; pool again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100340" y="2090341"/>
            <a:ext cx="1991320" cy="1447602"/>
          </a:xfrm>
          <a:prstGeom prst="roundRect">
            <a:avLst>
              <a:gd name="adj" fmla="val 7019"/>
            </a:avLst>
          </a:prstGeom>
          <a:solidFill>
            <a:srgbClr val="1F3A33"/>
          </a:solidFill>
        </p:spPr>
      </p:sp>
      <p:sp>
        <p:nvSpPr>
          <p:cNvPr id="11" name="Text 9"/>
          <p:cNvSpPr/>
          <p:nvPr/>
        </p:nvSpPr>
        <p:spPr>
          <a:xfrm>
            <a:off x="5303540" y="2293541"/>
            <a:ext cx="1635720" cy="2844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E8A33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Conv 128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303540" y="2641501"/>
            <a:ext cx="1635720" cy="48756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4F2EC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Learns object parts; pool to 16 × 16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244060" y="2090341"/>
            <a:ext cx="1991420" cy="1447602"/>
          </a:xfrm>
          <a:prstGeom prst="roundRect">
            <a:avLst>
              <a:gd name="adj" fmla="val 7019"/>
            </a:avLst>
          </a:prstGeom>
          <a:solidFill>
            <a:srgbClr val="1F3A33"/>
          </a:solidFill>
        </p:spPr>
      </p:sp>
      <p:sp>
        <p:nvSpPr>
          <p:cNvPr id="14" name="Text 12"/>
          <p:cNvSpPr/>
          <p:nvPr/>
        </p:nvSpPr>
        <p:spPr>
          <a:xfrm>
            <a:off x="7447260" y="2293541"/>
            <a:ext cx="1635820" cy="2844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E8A33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Dense 128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447260" y="2641501"/>
            <a:ext cx="1635820" cy="48756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4F2EC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Flatten, combine all features; dropout 0.5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387880" y="2090341"/>
            <a:ext cx="1991320" cy="1447602"/>
          </a:xfrm>
          <a:prstGeom prst="roundRect">
            <a:avLst>
              <a:gd name="adj" fmla="val 7019"/>
            </a:avLst>
          </a:prstGeom>
          <a:solidFill>
            <a:srgbClr val="1F3A33"/>
          </a:solidFill>
        </p:spPr>
      </p:sp>
      <p:sp>
        <p:nvSpPr>
          <p:cNvPr id="17" name="Text 15"/>
          <p:cNvSpPr/>
          <p:nvPr/>
        </p:nvSpPr>
        <p:spPr>
          <a:xfrm>
            <a:off x="9591080" y="2293541"/>
            <a:ext cx="1635720" cy="2844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E8A33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Softmax 6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591080" y="2641501"/>
            <a:ext cx="1635720" cy="48756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4F2EC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One probability per class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12800" y="3791942"/>
            <a:ext cx="11379200" cy="2921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4F2EC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ReLU activations · Adam optimizer · sparse categorical cross-entropy · accuracy metric · class weights · 4,288,454 parameters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24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4231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Predictions on six new photos</a:t>
            </a:r>
            <a:endParaRPr lang="en-US" sz="3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/>
        </p:nvGraphicFramePr>
        <p:xfrm>
          <a:off x="825500" y="1582341"/>
          <a:ext cx="10553700" cy="2701727"/>
        </p:xfrm>
        <a:graphic>
          <a:graphicData uri="http://schemas.openxmlformats.org/drawingml/2006/table">
            <a:tbl>
              <a:tblPr/>
              <a:tblGrid>
                <a:gridCol w="2110740"/>
                <a:gridCol w="2110740"/>
                <a:gridCol w="2110740"/>
                <a:gridCol w="2110740"/>
                <a:gridCol w="2110740"/>
              </a:tblGrid>
              <a:tr h="38596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4231F"/>
                          </a:solidFill>
                          <a:latin typeface="Georgia" panose="02040502050405020303" pitchFamily="34" charset="0"/>
                          <a:ea typeface="Georgia" panose="02040502050405020303" pitchFamily="34" charset="-122"/>
                          <a:cs typeface="Georgia" panose="02040502050405020303" pitchFamily="34" charset="-120"/>
                        </a:rPr>
                        <a:t>Photo</a:t>
                      </a:r>
                      <a:endParaRPr lang="en-US" sz="1400" dirty="0">
                        <a:latin typeface="Georgia" panose="02040502050405020303" pitchFamily="34" charset="0"/>
                        <a:ea typeface="Georgia" panose="02040502050405020303" pitchFamily="34" charset="0"/>
                        <a:cs typeface="Georgia" panose="02040502050405020303" pitchFamily="3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0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4231F"/>
                          </a:solidFill>
                          <a:latin typeface="Georgia" panose="02040502050405020303" pitchFamily="34" charset="0"/>
                          <a:ea typeface="Georgia" panose="02040502050405020303" pitchFamily="34" charset="-122"/>
                          <a:cs typeface="Georgia" panose="02040502050405020303" pitchFamily="34" charset="-120"/>
                        </a:rPr>
                        <a:t>True class</a:t>
                      </a:r>
                      <a:endParaRPr lang="en-US" sz="1400" dirty="0">
                        <a:latin typeface="Georgia" panose="02040502050405020303" pitchFamily="34" charset="0"/>
                        <a:ea typeface="Georgia" panose="02040502050405020303" pitchFamily="34" charset="0"/>
                        <a:cs typeface="Georgia" panose="02040502050405020303" pitchFamily="3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0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4231F"/>
                          </a:solidFill>
                          <a:latin typeface="Georgia" panose="02040502050405020303" pitchFamily="34" charset="0"/>
                          <a:ea typeface="Georgia" panose="02040502050405020303" pitchFamily="34" charset="-122"/>
                          <a:cs typeface="Georgia" panose="02040502050405020303" pitchFamily="34" charset="-120"/>
                        </a:rPr>
                        <a:t>Predicted</a:t>
                      </a:r>
                      <a:endParaRPr lang="en-US" sz="1400" dirty="0">
                        <a:latin typeface="Georgia" panose="02040502050405020303" pitchFamily="34" charset="0"/>
                        <a:ea typeface="Georgia" panose="02040502050405020303" pitchFamily="34" charset="0"/>
                        <a:cs typeface="Georgia" panose="02040502050405020303" pitchFamily="3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0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4231F"/>
                          </a:solidFill>
                          <a:latin typeface="Georgia" panose="02040502050405020303" pitchFamily="34" charset="0"/>
                          <a:ea typeface="Georgia" panose="02040502050405020303" pitchFamily="34" charset="-122"/>
                          <a:cs typeface="Georgia" panose="02040502050405020303" pitchFamily="34" charset="-120"/>
                        </a:rPr>
                        <a:t>Confidence</a:t>
                      </a:r>
                      <a:endParaRPr lang="en-US" sz="1400" dirty="0">
                        <a:latin typeface="Georgia" panose="02040502050405020303" pitchFamily="34" charset="0"/>
                        <a:ea typeface="Georgia" panose="02040502050405020303" pitchFamily="34" charset="0"/>
                        <a:cs typeface="Georgia" panose="02040502050405020303" pitchFamily="3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0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4231F"/>
                          </a:solidFill>
                          <a:latin typeface="Georgia" panose="02040502050405020303" pitchFamily="34" charset="0"/>
                          <a:ea typeface="Georgia" panose="02040502050405020303" pitchFamily="34" charset="-122"/>
                          <a:cs typeface="Georgia" panose="02040502050405020303" pitchFamily="34" charset="-120"/>
                        </a:rPr>
                        <a:t>Result</a:t>
                      </a:r>
                      <a:endParaRPr lang="en-US" sz="1400" dirty="0">
                        <a:latin typeface="Georgia" panose="02040502050405020303" pitchFamily="34" charset="0"/>
                        <a:ea typeface="Georgia" panose="02040502050405020303" pitchFamily="34" charset="0"/>
                        <a:cs typeface="Georgia" panose="02040502050405020303" pitchFamily="3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0DB"/>
                    </a:solidFill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31F"/>
                          </a:solidFill>
                          <a:latin typeface="Georgia" panose="02040502050405020303" pitchFamily="34" charset="0"/>
                          <a:ea typeface="Georgia" panose="02040502050405020303" pitchFamily="34" charset="-122"/>
                          <a:cs typeface="Georgia" panose="02040502050405020303" pitchFamily="34" charset="-120"/>
                        </a:rPr>
                        <a:t>cardboard box</a:t>
                      </a:r>
                      <a:endParaRPr lang="en-US" sz="1400" dirty="0">
                        <a:latin typeface="Georgia" panose="02040502050405020303" pitchFamily="34" charset="0"/>
                        <a:ea typeface="Georgia" panose="02040502050405020303" pitchFamily="34" charset="0"/>
                        <a:cs typeface="Georgia" panose="02040502050405020303" pitchFamily="3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31F"/>
                          </a:solidFill>
                          <a:latin typeface="Georgia" panose="02040502050405020303" pitchFamily="34" charset="0"/>
                          <a:ea typeface="Georgia" panose="02040502050405020303" pitchFamily="34" charset="-122"/>
                          <a:cs typeface="Georgia" panose="02040502050405020303" pitchFamily="34" charset="-120"/>
                        </a:rPr>
                        <a:t>cardboard</a:t>
                      </a:r>
                      <a:endParaRPr lang="en-US" sz="1400" dirty="0">
                        <a:latin typeface="Georgia" panose="02040502050405020303" pitchFamily="34" charset="0"/>
                        <a:ea typeface="Georgia" panose="02040502050405020303" pitchFamily="34" charset="0"/>
                        <a:cs typeface="Georgia" panose="02040502050405020303" pitchFamily="3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31F"/>
                          </a:solidFill>
                          <a:latin typeface="Georgia" panose="02040502050405020303" pitchFamily="34" charset="0"/>
                          <a:ea typeface="Georgia" panose="02040502050405020303" pitchFamily="34" charset="-122"/>
                          <a:cs typeface="Georgia" panose="02040502050405020303" pitchFamily="34" charset="-120"/>
                        </a:rPr>
                        <a:t>cardboard</a:t>
                      </a:r>
                      <a:endParaRPr lang="en-US" sz="1400" dirty="0">
                        <a:latin typeface="Georgia" panose="02040502050405020303" pitchFamily="34" charset="0"/>
                        <a:ea typeface="Georgia" panose="02040502050405020303" pitchFamily="34" charset="0"/>
                        <a:cs typeface="Georgia" panose="02040502050405020303" pitchFamily="3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31F"/>
                          </a:solidFill>
                          <a:latin typeface="Georgia" panose="02040502050405020303" pitchFamily="34" charset="0"/>
                          <a:ea typeface="Georgia" panose="02040502050405020303" pitchFamily="34" charset="-122"/>
                          <a:cs typeface="Georgia" panose="02040502050405020303" pitchFamily="34" charset="-120"/>
                        </a:rPr>
                        <a:t>100.0%</a:t>
                      </a:r>
                      <a:endParaRPr lang="en-US" sz="1400" dirty="0">
                        <a:latin typeface="Georgia" panose="02040502050405020303" pitchFamily="34" charset="0"/>
                        <a:ea typeface="Georgia" panose="02040502050405020303" pitchFamily="34" charset="0"/>
                        <a:cs typeface="Georgia" panose="02040502050405020303" pitchFamily="3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31F"/>
                          </a:solidFill>
                          <a:latin typeface="Georgia" panose="02040502050405020303" pitchFamily="34" charset="0"/>
                          <a:ea typeface="Georgia" panose="02040502050405020303" pitchFamily="34" charset="-122"/>
                          <a:cs typeface="Georgia" panose="02040502050405020303" pitchFamily="34" charset="-120"/>
                        </a:rPr>
                        <a:t>correct</a:t>
                      </a:r>
                      <a:endParaRPr lang="en-US" sz="1400" dirty="0">
                        <a:latin typeface="Georgia" panose="02040502050405020303" pitchFamily="34" charset="0"/>
                        <a:ea typeface="Georgia" panose="02040502050405020303" pitchFamily="34" charset="0"/>
                        <a:cs typeface="Georgia" panose="02040502050405020303" pitchFamily="3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31F"/>
                          </a:solidFill>
                          <a:latin typeface="Georgia" panose="02040502050405020303" pitchFamily="34" charset="0"/>
                          <a:ea typeface="Georgia" panose="02040502050405020303" pitchFamily="34" charset="-122"/>
                          <a:cs typeface="Georgia" panose="02040502050405020303" pitchFamily="34" charset="-120"/>
                        </a:rPr>
                        <a:t>glass jar</a:t>
                      </a:r>
                      <a:endParaRPr lang="en-US" sz="1400" dirty="0">
                        <a:latin typeface="Georgia" panose="02040502050405020303" pitchFamily="34" charset="0"/>
                        <a:ea typeface="Georgia" panose="02040502050405020303" pitchFamily="34" charset="0"/>
                        <a:cs typeface="Georgia" panose="02040502050405020303" pitchFamily="3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31F"/>
                          </a:solidFill>
                          <a:latin typeface="Georgia" panose="02040502050405020303" pitchFamily="34" charset="0"/>
                          <a:ea typeface="Georgia" panose="02040502050405020303" pitchFamily="34" charset="-122"/>
                          <a:cs typeface="Georgia" panose="02040502050405020303" pitchFamily="34" charset="-120"/>
                        </a:rPr>
                        <a:t>glass</a:t>
                      </a:r>
                      <a:endParaRPr lang="en-US" sz="1400" dirty="0">
                        <a:latin typeface="Georgia" panose="02040502050405020303" pitchFamily="34" charset="0"/>
                        <a:ea typeface="Georgia" panose="02040502050405020303" pitchFamily="34" charset="0"/>
                        <a:cs typeface="Georgia" panose="02040502050405020303" pitchFamily="3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31F"/>
                          </a:solidFill>
                          <a:latin typeface="Georgia" panose="02040502050405020303" pitchFamily="34" charset="0"/>
                          <a:ea typeface="Georgia" panose="02040502050405020303" pitchFamily="34" charset="-122"/>
                          <a:cs typeface="Georgia" panose="02040502050405020303" pitchFamily="34" charset="-120"/>
                        </a:rPr>
                        <a:t>paper</a:t>
                      </a:r>
                      <a:endParaRPr lang="en-US" sz="1400" dirty="0">
                        <a:latin typeface="Georgia" panose="02040502050405020303" pitchFamily="34" charset="0"/>
                        <a:ea typeface="Georgia" panose="02040502050405020303" pitchFamily="34" charset="0"/>
                        <a:cs typeface="Georgia" panose="02040502050405020303" pitchFamily="3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31F"/>
                          </a:solidFill>
                          <a:latin typeface="Georgia" panose="02040502050405020303" pitchFamily="34" charset="0"/>
                          <a:ea typeface="Georgia" panose="02040502050405020303" pitchFamily="34" charset="-122"/>
                          <a:cs typeface="Georgia" panose="02040502050405020303" pitchFamily="34" charset="-120"/>
                        </a:rPr>
                        <a:t>95.6%</a:t>
                      </a:r>
                      <a:endParaRPr lang="en-US" sz="1400" dirty="0">
                        <a:latin typeface="Georgia" panose="02040502050405020303" pitchFamily="34" charset="0"/>
                        <a:ea typeface="Georgia" panose="02040502050405020303" pitchFamily="34" charset="0"/>
                        <a:cs typeface="Georgia" panose="02040502050405020303" pitchFamily="3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31F"/>
                          </a:solidFill>
                          <a:latin typeface="Georgia" panose="02040502050405020303" pitchFamily="34" charset="0"/>
                          <a:ea typeface="Georgia" panose="02040502050405020303" pitchFamily="34" charset="-122"/>
                          <a:cs typeface="Georgia" panose="02040502050405020303" pitchFamily="34" charset="-120"/>
                        </a:rPr>
                        <a:t>wrong</a:t>
                      </a:r>
                      <a:endParaRPr lang="en-US" sz="1400" dirty="0">
                        <a:latin typeface="Georgia" panose="02040502050405020303" pitchFamily="34" charset="0"/>
                        <a:ea typeface="Georgia" panose="02040502050405020303" pitchFamily="34" charset="0"/>
                        <a:cs typeface="Georgia" panose="02040502050405020303" pitchFamily="3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31F"/>
                          </a:solidFill>
                          <a:latin typeface="Georgia" panose="02040502050405020303" pitchFamily="34" charset="0"/>
                          <a:ea typeface="Georgia" panose="02040502050405020303" pitchFamily="34" charset="-122"/>
                          <a:cs typeface="Georgia" panose="02040502050405020303" pitchFamily="34" charset="-120"/>
                        </a:rPr>
                        <a:t>aluminium foil</a:t>
                      </a:r>
                      <a:endParaRPr lang="en-US" sz="1400" dirty="0">
                        <a:latin typeface="Georgia" panose="02040502050405020303" pitchFamily="34" charset="0"/>
                        <a:ea typeface="Georgia" panose="02040502050405020303" pitchFamily="34" charset="0"/>
                        <a:cs typeface="Georgia" panose="02040502050405020303" pitchFamily="3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31F"/>
                          </a:solidFill>
                          <a:latin typeface="Georgia" panose="02040502050405020303" pitchFamily="34" charset="0"/>
                          <a:ea typeface="Georgia" panose="02040502050405020303" pitchFamily="34" charset="-122"/>
                          <a:cs typeface="Georgia" panose="02040502050405020303" pitchFamily="34" charset="-120"/>
                        </a:rPr>
                        <a:t>metal</a:t>
                      </a:r>
                      <a:endParaRPr lang="en-US" sz="1400" dirty="0">
                        <a:latin typeface="Georgia" panose="02040502050405020303" pitchFamily="34" charset="0"/>
                        <a:ea typeface="Georgia" panose="02040502050405020303" pitchFamily="34" charset="0"/>
                        <a:cs typeface="Georgia" panose="02040502050405020303" pitchFamily="3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31F"/>
                          </a:solidFill>
                          <a:latin typeface="Georgia" panose="02040502050405020303" pitchFamily="34" charset="0"/>
                          <a:ea typeface="Georgia" panose="02040502050405020303" pitchFamily="34" charset="-122"/>
                          <a:cs typeface="Georgia" panose="02040502050405020303" pitchFamily="34" charset="-120"/>
                        </a:rPr>
                        <a:t>cardboard</a:t>
                      </a:r>
                      <a:endParaRPr lang="en-US" sz="1400" dirty="0">
                        <a:latin typeface="Georgia" panose="02040502050405020303" pitchFamily="34" charset="0"/>
                        <a:ea typeface="Georgia" panose="02040502050405020303" pitchFamily="34" charset="0"/>
                        <a:cs typeface="Georgia" panose="02040502050405020303" pitchFamily="3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31F"/>
                          </a:solidFill>
                          <a:latin typeface="Georgia" panose="02040502050405020303" pitchFamily="34" charset="0"/>
                          <a:ea typeface="Georgia" panose="02040502050405020303" pitchFamily="34" charset="-122"/>
                          <a:cs typeface="Georgia" panose="02040502050405020303" pitchFamily="34" charset="-120"/>
                        </a:rPr>
                        <a:t>100.0%</a:t>
                      </a:r>
                      <a:endParaRPr lang="en-US" sz="1400" dirty="0">
                        <a:latin typeface="Georgia" panose="02040502050405020303" pitchFamily="34" charset="0"/>
                        <a:ea typeface="Georgia" panose="02040502050405020303" pitchFamily="34" charset="0"/>
                        <a:cs typeface="Georgia" panose="02040502050405020303" pitchFamily="3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31F"/>
                          </a:solidFill>
                          <a:latin typeface="Georgia" panose="02040502050405020303" pitchFamily="34" charset="0"/>
                          <a:ea typeface="Georgia" panose="02040502050405020303" pitchFamily="34" charset="-122"/>
                          <a:cs typeface="Georgia" panose="02040502050405020303" pitchFamily="34" charset="-120"/>
                        </a:rPr>
                        <a:t>wrong</a:t>
                      </a:r>
                      <a:endParaRPr lang="en-US" sz="1400" dirty="0">
                        <a:latin typeface="Georgia" panose="02040502050405020303" pitchFamily="34" charset="0"/>
                        <a:ea typeface="Georgia" panose="02040502050405020303" pitchFamily="34" charset="0"/>
                        <a:cs typeface="Georgia" panose="02040502050405020303" pitchFamily="3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31F"/>
                          </a:solidFill>
                          <a:latin typeface="Georgia" panose="02040502050405020303" pitchFamily="34" charset="0"/>
                          <a:ea typeface="Georgia" panose="02040502050405020303" pitchFamily="34" charset="-122"/>
                          <a:cs typeface="Georgia" panose="02040502050405020303" pitchFamily="34" charset="-120"/>
                        </a:rPr>
                        <a:t>crumpled paper</a:t>
                      </a:r>
                      <a:endParaRPr lang="en-US" sz="1400" dirty="0">
                        <a:latin typeface="Georgia" panose="02040502050405020303" pitchFamily="34" charset="0"/>
                        <a:ea typeface="Georgia" panose="02040502050405020303" pitchFamily="34" charset="0"/>
                        <a:cs typeface="Georgia" panose="02040502050405020303" pitchFamily="3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31F"/>
                          </a:solidFill>
                          <a:latin typeface="Georgia" panose="02040502050405020303" pitchFamily="34" charset="0"/>
                          <a:ea typeface="Georgia" panose="02040502050405020303" pitchFamily="34" charset="-122"/>
                          <a:cs typeface="Georgia" panose="02040502050405020303" pitchFamily="34" charset="-120"/>
                        </a:rPr>
                        <a:t>paper</a:t>
                      </a:r>
                      <a:endParaRPr lang="en-US" sz="1400" dirty="0">
                        <a:latin typeface="Georgia" panose="02040502050405020303" pitchFamily="34" charset="0"/>
                        <a:ea typeface="Georgia" panose="02040502050405020303" pitchFamily="34" charset="0"/>
                        <a:cs typeface="Georgia" panose="02040502050405020303" pitchFamily="3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31F"/>
                          </a:solidFill>
                          <a:latin typeface="Georgia" panose="02040502050405020303" pitchFamily="34" charset="0"/>
                          <a:ea typeface="Georgia" panose="02040502050405020303" pitchFamily="34" charset="-122"/>
                          <a:cs typeface="Georgia" panose="02040502050405020303" pitchFamily="34" charset="-120"/>
                        </a:rPr>
                        <a:t>paper</a:t>
                      </a:r>
                      <a:endParaRPr lang="en-US" sz="1400" dirty="0">
                        <a:latin typeface="Georgia" panose="02040502050405020303" pitchFamily="34" charset="0"/>
                        <a:ea typeface="Georgia" panose="02040502050405020303" pitchFamily="34" charset="0"/>
                        <a:cs typeface="Georgia" panose="02040502050405020303" pitchFamily="3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31F"/>
                          </a:solidFill>
                          <a:latin typeface="Georgia" panose="02040502050405020303" pitchFamily="34" charset="0"/>
                          <a:ea typeface="Georgia" panose="02040502050405020303" pitchFamily="34" charset="-122"/>
                          <a:cs typeface="Georgia" panose="02040502050405020303" pitchFamily="34" charset="-120"/>
                        </a:rPr>
                        <a:t>99.6%</a:t>
                      </a:r>
                      <a:endParaRPr lang="en-US" sz="1400" dirty="0">
                        <a:latin typeface="Georgia" panose="02040502050405020303" pitchFamily="34" charset="0"/>
                        <a:ea typeface="Georgia" panose="02040502050405020303" pitchFamily="34" charset="0"/>
                        <a:cs typeface="Georgia" panose="02040502050405020303" pitchFamily="3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31F"/>
                          </a:solidFill>
                          <a:latin typeface="Georgia" panose="02040502050405020303" pitchFamily="34" charset="0"/>
                          <a:ea typeface="Georgia" panose="02040502050405020303" pitchFamily="34" charset="-122"/>
                          <a:cs typeface="Georgia" panose="02040502050405020303" pitchFamily="34" charset="-120"/>
                        </a:rPr>
                        <a:t>correct</a:t>
                      </a:r>
                      <a:endParaRPr lang="en-US" sz="1400" dirty="0">
                        <a:latin typeface="Georgia" panose="02040502050405020303" pitchFamily="34" charset="0"/>
                        <a:ea typeface="Georgia" panose="02040502050405020303" pitchFamily="34" charset="0"/>
                        <a:cs typeface="Georgia" panose="02040502050405020303" pitchFamily="3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31F"/>
                          </a:solidFill>
                          <a:latin typeface="Georgia" panose="02040502050405020303" pitchFamily="34" charset="0"/>
                          <a:ea typeface="Georgia" panose="02040502050405020303" pitchFamily="34" charset="-122"/>
                          <a:cs typeface="Georgia" panose="02040502050405020303" pitchFamily="34" charset="-120"/>
                        </a:rPr>
                        <a:t>capsule bottle</a:t>
                      </a:r>
                      <a:endParaRPr lang="en-US" sz="1400" dirty="0">
                        <a:latin typeface="Georgia" panose="02040502050405020303" pitchFamily="34" charset="0"/>
                        <a:ea typeface="Georgia" panose="02040502050405020303" pitchFamily="34" charset="0"/>
                        <a:cs typeface="Georgia" panose="02040502050405020303" pitchFamily="3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31F"/>
                          </a:solidFill>
                          <a:latin typeface="Georgia" panose="02040502050405020303" pitchFamily="34" charset="0"/>
                          <a:ea typeface="Georgia" panose="02040502050405020303" pitchFamily="34" charset="-122"/>
                          <a:cs typeface="Georgia" panose="02040502050405020303" pitchFamily="34" charset="-120"/>
                        </a:rPr>
                        <a:t>plastic</a:t>
                      </a:r>
                      <a:endParaRPr lang="en-US" sz="1400" dirty="0">
                        <a:latin typeface="Georgia" panose="02040502050405020303" pitchFamily="34" charset="0"/>
                        <a:ea typeface="Georgia" panose="02040502050405020303" pitchFamily="34" charset="0"/>
                        <a:cs typeface="Georgia" panose="02040502050405020303" pitchFamily="3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31F"/>
                          </a:solidFill>
                          <a:latin typeface="Georgia" panose="02040502050405020303" pitchFamily="34" charset="0"/>
                          <a:ea typeface="Georgia" panose="02040502050405020303" pitchFamily="34" charset="-122"/>
                          <a:cs typeface="Georgia" panose="02040502050405020303" pitchFamily="34" charset="-120"/>
                        </a:rPr>
                        <a:t>trash</a:t>
                      </a:r>
                      <a:endParaRPr lang="en-US" sz="1400" dirty="0">
                        <a:latin typeface="Georgia" panose="02040502050405020303" pitchFamily="34" charset="0"/>
                        <a:ea typeface="Georgia" panose="02040502050405020303" pitchFamily="34" charset="0"/>
                        <a:cs typeface="Georgia" panose="02040502050405020303" pitchFamily="3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31F"/>
                          </a:solidFill>
                          <a:latin typeface="Georgia" panose="02040502050405020303" pitchFamily="34" charset="0"/>
                          <a:ea typeface="Georgia" panose="02040502050405020303" pitchFamily="34" charset="-122"/>
                          <a:cs typeface="Georgia" panose="02040502050405020303" pitchFamily="34" charset="-120"/>
                        </a:rPr>
                        <a:t>56.9%</a:t>
                      </a:r>
                      <a:endParaRPr lang="en-US" sz="1400" dirty="0">
                        <a:latin typeface="Georgia" panose="02040502050405020303" pitchFamily="34" charset="0"/>
                        <a:ea typeface="Georgia" panose="02040502050405020303" pitchFamily="34" charset="0"/>
                        <a:cs typeface="Georgia" panose="02040502050405020303" pitchFamily="3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31F"/>
                          </a:solidFill>
                          <a:latin typeface="Georgia" panose="02040502050405020303" pitchFamily="34" charset="0"/>
                          <a:ea typeface="Georgia" panose="02040502050405020303" pitchFamily="34" charset="-122"/>
                          <a:cs typeface="Georgia" panose="02040502050405020303" pitchFamily="34" charset="-120"/>
                        </a:rPr>
                        <a:t>wrong</a:t>
                      </a:r>
                      <a:endParaRPr lang="en-US" sz="1400" dirty="0">
                        <a:latin typeface="Georgia" panose="02040502050405020303" pitchFamily="34" charset="0"/>
                        <a:ea typeface="Georgia" panose="02040502050405020303" pitchFamily="34" charset="0"/>
                        <a:cs typeface="Georgia" panose="02040502050405020303" pitchFamily="3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31F"/>
                          </a:solidFill>
                          <a:latin typeface="Georgia" panose="02040502050405020303" pitchFamily="34" charset="0"/>
                          <a:ea typeface="Georgia" panose="02040502050405020303" pitchFamily="34" charset="-122"/>
                          <a:cs typeface="Georgia" panose="02040502050405020303" pitchFamily="34" charset="-120"/>
                        </a:rPr>
                        <a:t>chocolate wrappers</a:t>
                      </a:r>
                      <a:endParaRPr lang="en-US" sz="1400" dirty="0">
                        <a:latin typeface="Georgia" panose="02040502050405020303" pitchFamily="34" charset="0"/>
                        <a:ea typeface="Georgia" panose="02040502050405020303" pitchFamily="34" charset="0"/>
                        <a:cs typeface="Georgia" panose="02040502050405020303" pitchFamily="3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31F"/>
                          </a:solidFill>
                          <a:latin typeface="Georgia" panose="02040502050405020303" pitchFamily="34" charset="0"/>
                          <a:ea typeface="Georgia" panose="02040502050405020303" pitchFamily="34" charset="-122"/>
                          <a:cs typeface="Georgia" panose="02040502050405020303" pitchFamily="34" charset="-120"/>
                        </a:rPr>
                        <a:t>trash</a:t>
                      </a:r>
                      <a:endParaRPr lang="en-US" sz="1400" dirty="0">
                        <a:latin typeface="Georgia" panose="02040502050405020303" pitchFamily="34" charset="0"/>
                        <a:ea typeface="Georgia" panose="02040502050405020303" pitchFamily="34" charset="0"/>
                        <a:cs typeface="Georgia" panose="02040502050405020303" pitchFamily="3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31F"/>
                          </a:solidFill>
                          <a:latin typeface="Georgia" panose="02040502050405020303" pitchFamily="34" charset="0"/>
                          <a:ea typeface="Georgia" panose="02040502050405020303" pitchFamily="34" charset="-122"/>
                          <a:cs typeface="Georgia" panose="02040502050405020303" pitchFamily="34" charset="-120"/>
                        </a:rPr>
                        <a:t>paper</a:t>
                      </a:r>
                      <a:endParaRPr lang="en-US" sz="1400" dirty="0">
                        <a:latin typeface="Georgia" panose="02040502050405020303" pitchFamily="34" charset="0"/>
                        <a:ea typeface="Georgia" panose="02040502050405020303" pitchFamily="34" charset="0"/>
                        <a:cs typeface="Georgia" panose="02040502050405020303" pitchFamily="3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31F"/>
                          </a:solidFill>
                          <a:latin typeface="Georgia" panose="02040502050405020303" pitchFamily="34" charset="0"/>
                          <a:ea typeface="Georgia" panose="02040502050405020303" pitchFamily="34" charset="-122"/>
                          <a:cs typeface="Georgia" panose="02040502050405020303" pitchFamily="34" charset="-120"/>
                        </a:rPr>
                        <a:t>99.8%</a:t>
                      </a:r>
                      <a:endParaRPr lang="en-US" sz="1400" dirty="0">
                        <a:latin typeface="Georgia" panose="02040502050405020303" pitchFamily="34" charset="0"/>
                        <a:ea typeface="Georgia" panose="02040502050405020303" pitchFamily="34" charset="0"/>
                        <a:cs typeface="Georgia" panose="02040502050405020303" pitchFamily="3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31F"/>
                          </a:solidFill>
                          <a:latin typeface="Georgia" panose="02040502050405020303" pitchFamily="34" charset="0"/>
                          <a:ea typeface="Georgia" panose="02040502050405020303" pitchFamily="34" charset="-122"/>
                          <a:cs typeface="Georgia" panose="02040502050405020303" pitchFamily="34" charset="-120"/>
                        </a:rPr>
                        <a:t>wrong</a:t>
                      </a:r>
                      <a:endParaRPr lang="en-US" sz="1400" dirty="0">
                        <a:latin typeface="Georgia" panose="02040502050405020303" pitchFamily="34" charset="0"/>
                        <a:ea typeface="Georgia" panose="02040502050405020303" pitchFamily="34" charset="0"/>
                        <a:cs typeface="Georgia" panose="02040502050405020303" pitchFamily="3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4538067"/>
            <a:ext cx="10883392" cy="594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4231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2 of 6 correct. Four wrong answers, three of them at 95% confidence or more: confidence is not correctness. Possible cause: different backgrounds and photo style from the training data.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24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F4F2EC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Test results on 380 unseen images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00" y="1569641"/>
            <a:ext cx="3386634" cy="1074341"/>
          </a:xfrm>
          <a:prstGeom prst="roundRect">
            <a:avLst>
              <a:gd name="adj" fmla="val 9457"/>
            </a:avLst>
          </a:prstGeom>
          <a:solidFill>
            <a:srgbClr val="1F3A33"/>
          </a:solidFill>
        </p:spPr>
      </p:sp>
      <p:sp>
        <p:nvSpPr>
          <p:cNvPr id="4" name="Text 2"/>
          <p:cNvSpPr/>
          <p:nvPr/>
        </p:nvSpPr>
        <p:spPr>
          <a:xfrm>
            <a:off x="990600" y="1747441"/>
            <a:ext cx="3121965" cy="5130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840"/>
              </a:lnSpc>
              <a:buNone/>
            </a:pPr>
            <a:r>
              <a:rPr lang="en-US" sz="3200" b="1" dirty="0">
                <a:solidFill>
                  <a:srgbClr val="E8A33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72.9%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90600" y="2235101"/>
            <a:ext cx="3121965" cy="2564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4F2EC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Test accuracy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402634" y="1569641"/>
            <a:ext cx="3386733" cy="1074341"/>
          </a:xfrm>
          <a:prstGeom prst="roundRect">
            <a:avLst>
              <a:gd name="adj" fmla="val 9457"/>
            </a:avLst>
          </a:prstGeom>
          <a:solidFill>
            <a:srgbClr val="1F3A33"/>
          </a:solidFill>
        </p:spPr>
      </p:sp>
      <p:sp>
        <p:nvSpPr>
          <p:cNvPr id="7" name="Text 5"/>
          <p:cNvSpPr/>
          <p:nvPr/>
        </p:nvSpPr>
        <p:spPr>
          <a:xfrm>
            <a:off x="4580434" y="1747441"/>
            <a:ext cx="3122067" cy="5130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840"/>
              </a:lnSpc>
              <a:buNone/>
            </a:pPr>
            <a:r>
              <a:rPr lang="en-US" sz="3200" b="1" dirty="0">
                <a:solidFill>
                  <a:srgbClr val="E8A33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0.711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80434" y="2235101"/>
            <a:ext cx="3122067" cy="2564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4F2EC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Macro F1-score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992566" y="1569641"/>
            <a:ext cx="3386634" cy="1074341"/>
          </a:xfrm>
          <a:prstGeom prst="roundRect">
            <a:avLst>
              <a:gd name="adj" fmla="val 9457"/>
            </a:avLst>
          </a:prstGeom>
          <a:solidFill>
            <a:srgbClr val="1F3A33"/>
          </a:solidFill>
        </p:spPr>
      </p:sp>
      <p:sp>
        <p:nvSpPr>
          <p:cNvPr id="10" name="Text 8"/>
          <p:cNvSpPr/>
          <p:nvPr/>
        </p:nvSpPr>
        <p:spPr>
          <a:xfrm>
            <a:off x="8170366" y="1747441"/>
            <a:ext cx="3121965" cy="5130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840"/>
              </a:lnSpc>
              <a:buNone/>
            </a:pPr>
            <a:r>
              <a:rPr lang="en-US" sz="3200" b="1" dirty="0">
                <a:solidFill>
                  <a:srgbClr val="E8A33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0.85 / 0.41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8170366" y="2235101"/>
            <a:ext cx="3121965" cy="2564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4F2EC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Trash recall / precision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/>
        </p:nvGraphicFramePr>
        <p:xfrm>
          <a:off x="825500" y="2910681"/>
          <a:ext cx="10553700" cy="2701727"/>
        </p:xfrm>
        <a:graphic>
          <a:graphicData uri="http://schemas.openxmlformats.org/drawingml/2006/table">
            <a:tbl>
              <a:tblPr/>
              <a:tblGrid>
                <a:gridCol w="2638425"/>
                <a:gridCol w="2638425"/>
                <a:gridCol w="2638425"/>
                <a:gridCol w="2638425"/>
              </a:tblGrid>
              <a:tr h="38596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4F2EC"/>
                          </a:solidFill>
                          <a:latin typeface="Georgia" panose="02040502050405020303" pitchFamily="34" charset="0"/>
                          <a:ea typeface="Georgia" panose="02040502050405020303" pitchFamily="34" charset="-122"/>
                          <a:cs typeface="Georgia" panose="02040502050405020303" pitchFamily="34" charset="-120"/>
                        </a:rPr>
                        <a:t>Class</a:t>
                      </a:r>
                      <a:endParaRPr lang="en-US" sz="1400" dirty="0">
                        <a:latin typeface="Georgia" panose="02040502050405020303" pitchFamily="34" charset="0"/>
                        <a:ea typeface="Georgia" panose="02040502050405020303" pitchFamily="34" charset="0"/>
                        <a:cs typeface="Georgia" panose="02040502050405020303" pitchFamily="3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75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4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4F2EC"/>
                          </a:solidFill>
                          <a:latin typeface="Georgia" panose="02040502050405020303" pitchFamily="34" charset="0"/>
                          <a:ea typeface="Georgia" panose="02040502050405020303" pitchFamily="34" charset="-122"/>
                          <a:cs typeface="Georgia" panose="02040502050405020303" pitchFamily="34" charset="-120"/>
                        </a:rPr>
                        <a:t>Precision</a:t>
                      </a:r>
                      <a:endParaRPr lang="en-US" sz="1400" dirty="0">
                        <a:latin typeface="Georgia" panose="02040502050405020303" pitchFamily="34" charset="0"/>
                        <a:ea typeface="Georgia" panose="02040502050405020303" pitchFamily="34" charset="0"/>
                        <a:cs typeface="Georgia" panose="02040502050405020303" pitchFamily="3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555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4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4F2EC"/>
                          </a:solidFill>
                          <a:latin typeface="Georgia" panose="02040502050405020303" pitchFamily="34" charset="0"/>
                          <a:ea typeface="Georgia" panose="02040502050405020303" pitchFamily="34" charset="-122"/>
                          <a:cs typeface="Georgia" panose="02040502050405020303" pitchFamily="34" charset="-120"/>
                        </a:rPr>
                        <a:t>Recall</a:t>
                      </a:r>
                      <a:endParaRPr lang="en-US" sz="1400" dirty="0">
                        <a:latin typeface="Georgia" panose="02040502050405020303" pitchFamily="34" charset="0"/>
                        <a:ea typeface="Georgia" panose="02040502050405020303" pitchFamily="34" charset="0"/>
                        <a:cs typeface="Georgia" panose="02040502050405020303" pitchFamily="3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555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4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4F2EC"/>
                          </a:solidFill>
                          <a:latin typeface="Georgia" panose="02040502050405020303" pitchFamily="34" charset="0"/>
                          <a:ea typeface="Georgia" panose="02040502050405020303" pitchFamily="34" charset="-122"/>
                          <a:cs typeface="Georgia" panose="02040502050405020303" pitchFamily="34" charset="-120"/>
                        </a:rPr>
                        <a:t>F1</a:t>
                      </a:r>
                      <a:endParaRPr lang="en-US" sz="1400" dirty="0">
                        <a:latin typeface="Georgia" panose="02040502050405020303" pitchFamily="34" charset="0"/>
                        <a:ea typeface="Georgia" panose="02040502050405020303" pitchFamily="34" charset="0"/>
                        <a:cs typeface="Georgia" panose="02040502050405020303" pitchFamily="3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555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430"/>
                    </a:solidFill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4F2EC"/>
                          </a:solidFill>
                          <a:latin typeface="Georgia" panose="02040502050405020303" pitchFamily="34" charset="0"/>
                          <a:ea typeface="Georgia" panose="02040502050405020303" pitchFamily="34" charset="-122"/>
                          <a:cs typeface="Georgia" panose="02040502050405020303" pitchFamily="34" charset="-120"/>
                        </a:rPr>
                        <a:t>cardboard</a:t>
                      </a:r>
                      <a:endParaRPr lang="en-US" sz="1400" dirty="0">
                        <a:latin typeface="Georgia" panose="02040502050405020303" pitchFamily="34" charset="0"/>
                        <a:ea typeface="Georgia" panose="02040502050405020303" pitchFamily="34" charset="0"/>
                        <a:cs typeface="Georgia" panose="02040502050405020303" pitchFamily="3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75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4F2EC"/>
                          </a:solidFill>
                          <a:latin typeface="Georgia" panose="02040502050405020303" pitchFamily="34" charset="0"/>
                          <a:ea typeface="Georgia" panose="02040502050405020303" pitchFamily="34" charset="-122"/>
                          <a:cs typeface="Georgia" panose="02040502050405020303" pitchFamily="34" charset="-120"/>
                        </a:rPr>
                        <a:t>0.852</a:t>
                      </a:r>
                      <a:endParaRPr lang="en-US" sz="1400" dirty="0">
                        <a:latin typeface="Georgia" panose="02040502050405020303" pitchFamily="34" charset="0"/>
                        <a:ea typeface="Georgia" panose="02040502050405020303" pitchFamily="34" charset="0"/>
                        <a:cs typeface="Georgia" panose="02040502050405020303" pitchFamily="3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75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4F2EC"/>
                          </a:solidFill>
                          <a:latin typeface="Georgia" panose="02040502050405020303" pitchFamily="34" charset="0"/>
                          <a:ea typeface="Georgia" panose="02040502050405020303" pitchFamily="34" charset="-122"/>
                          <a:cs typeface="Georgia" panose="02040502050405020303" pitchFamily="34" charset="-120"/>
                        </a:rPr>
                        <a:t>0.867</a:t>
                      </a:r>
                      <a:endParaRPr lang="en-US" sz="1400" dirty="0">
                        <a:latin typeface="Georgia" panose="02040502050405020303" pitchFamily="34" charset="0"/>
                        <a:ea typeface="Georgia" panose="02040502050405020303" pitchFamily="34" charset="0"/>
                        <a:cs typeface="Georgia" panose="02040502050405020303" pitchFamily="3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75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4F2EC"/>
                          </a:solidFill>
                          <a:latin typeface="Georgia" panose="02040502050405020303" pitchFamily="34" charset="0"/>
                          <a:ea typeface="Georgia" panose="02040502050405020303" pitchFamily="34" charset="-122"/>
                          <a:cs typeface="Georgia" panose="02040502050405020303" pitchFamily="34" charset="-120"/>
                        </a:rPr>
                        <a:t>0.860</a:t>
                      </a:r>
                      <a:endParaRPr lang="en-US" sz="1400" dirty="0">
                        <a:latin typeface="Georgia" panose="02040502050405020303" pitchFamily="34" charset="0"/>
                        <a:ea typeface="Georgia" panose="02040502050405020303" pitchFamily="34" charset="0"/>
                        <a:cs typeface="Georgia" panose="02040502050405020303" pitchFamily="3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75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F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4F2EC"/>
                          </a:solidFill>
                          <a:latin typeface="Georgia" panose="02040502050405020303" pitchFamily="34" charset="0"/>
                          <a:ea typeface="Georgia" panose="02040502050405020303" pitchFamily="34" charset="-122"/>
                          <a:cs typeface="Georgia" panose="02040502050405020303" pitchFamily="34" charset="-120"/>
                        </a:rPr>
                        <a:t>glass</a:t>
                      </a:r>
                      <a:endParaRPr lang="en-US" sz="1400" dirty="0">
                        <a:latin typeface="Georgia" panose="02040502050405020303" pitchFamily="34" charset="0"/>
                        <a:ea typeface="Georgia" panose="02040502050405020303" pitchFamily="34" charset="0"/>
                        <a:cs typeface="Georgia" panose="02040502050405020303" pitchFamily="3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75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4F2EC"/>
                          </a:solidFill>
                          <a:latin typeface="Georgia" panose="02040502050405020303" pitchFamily="34" charset="0"/>
                          <a:ea typeface="Georgia" panose="02040502050405020303" pitchFamily="34" charset="-122"/>
                          <a:cs typeface="Georgia" panose="02040502050405020303" pitchFamily="34" charset="-120"/>
                        </a:rPr>
                        <a:t>0.780</a:t>
                      </a:r>
                      <a:endParaRPr lang="en-US" sz="1400" dirty="0">
                        <a:latin typeface="Georgia" panose="02040502050405020303" pitchFamily="34" charset="0"/>
                        <a:ea typeface="Georgia" panose="02040502050405020303" pitchFamily="34" charset="0"/>
                        <a:cs typeface="Georgia" panose="02040502050405020303" pitchFamily="3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75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4F2EC"/>
                          </a:solidFill>
                          <a:latin typeface="Georgia" panose="02040502050405020303" pitchFamily="34" charset="0"/>
                          <a:ea typeface="Georgia" panose="02040502050405020303" pitchFamily="34" charset="-122"/>
                          <a:cs typeface="Georgia" panose="02040502050405020303" pitchFamily="34" charset="-120"/>
                        </a:rPr>
                        <a:t>0.605</a:t>
                      </a:r>
                      <a:endParaRPr lang="en-US" sz="1400" dirty="0">
                        <a:latin typeface="Georgia" panose="02040502050405020303" pitchFamily="34" charset="0"/>
                        <a:ea typeface="Georgia" panose="02040502050405020303" pitchFamily="34" charset="0"/>
                        <a:cs typeface="Georgia" panose="02040502050405020303" pitchFamily="3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75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4F2EC"/>
                          </a:solidFill>
                          <a:latin typeface="Georgia" panose="02040502050405020303" pitchFamily="34" charset="0"/>
                          <a:ea typeface="Georgia" panose="02040502050405020303" pitchFamily="34" charset="-122"/>
                          <a:cs typeface="Georgia" panose="02040502050405020303" pitchFamily="34" charset="-120"/>
                        </a:rPr>
                        <a:t>0.681</a:t>
                      </a:r>
                      <a:endParaRPr lang="en-US" sz="1400" dirty="0">
                        <a:latin typeface="Georgia" panose="02040502050405020303" pitchFamily="34" charset="0"/>
                        <a:ea typeface="Georgia" panose="02040502050405020303" pitchFamily="34" charset="0"/>
                        <a:cs typeface="Georgia" panose="02040502050405020303" pitchFamily="3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75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4F2EC"/>
                          </a:solidFill>
                          <a:latin typeface="Georgia" panose="02040502050405020303" pitchFamily="34" charset="0"/>
                          <a:ea typeface="Georgia" panose="02040502050405020303" pitchFamily="34" charset="-122"/>
                          <a:cs typeface="Georgia" panose="02040502050405020303" pitchFamily="34" charset="-120"/>
                        </a:rPr>
                        <a:t>metal</a:t>
                      </a:r>
                      <a:endParaRPr lang="en-US" sz="1400" dirty="0">
                        <a:latin typeface="Georgia" panose="02040502050405020303" pitchFamily="34" charset="0"/>
                        <a:ea typeface="Georgia" panose="02040502050405020303" pitchFamily="34" charset="0"/>
                        <a:cs typeface="Georgia" panose="02040502050405020303" pitchFamily="3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75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4F2EC"/>
                          </a:solidFill>
                          <a:latin typeface="Georgia" panose="02040502050405020303" pitchFamily="34" charset="0"/>
                          <a:ea typeface="Georgia" panose="02040502050405020303" pitchFamily="34" charset="-122"/>
                          <a:cs typeface="Georgia" panose="02040502050405020303" pitchFamily="34" charset="-120"/>
                        </a:rPr>
                        <a:t>0.611</a:t>
                      </a:r>
                      <a:endParaRPr lang="en-US" sz="1400" dirty="0">
                        <a:latin typeface="Georgia" panose="02040502050405020303" pitchFamily="34" charset="0"/>
                        <a:ea typeface="Georgia" panose="02040502050405020303" pitchFamily="34" charset="0"/>
                        <a:cs typeface="Georgia" panose="02040502050405020303" pitchFamily="3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75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4F2EC"/>
                          </a:solidFill>
                          <a:latin typeface="Georgia" panose="02040502050405020303" pitchFamily="34" charset="0"/>
                          <a:ea typeface="Georgia" panose="02040502050405020303" pitchFamily="34" charset="-122"/>
                          <a:cs typeface="Georgia" panose="02040502050405020303" pitchFamily="34" charset="-120"/>
                        </a:rPr>
                        <a:t>0.710</a:t>
                      </a:r>
                      <a:endParaRPr lang="en-US" sz="1400" dirty="0">
                        <a:latin typeface="Georgia" panose="02040502050405020303" pitchFamily="34" charset="0"/>
                        <a:ea typeface="Georgia" panose="02040502050405020303" pitchFamily="34" charset="0"/>
                        <a:cs typeface="Georgia" panose="02040502050405020303" pitchFamily="3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75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4F2EC"/>
                          </a:solidFill>
                          <a:latin typeface="Georgia" panose="02040502050405020303" pitchFamily="34" charset="0"/>
                          <a:ea typeface="Georgia" panose="02040502050405020303" pitchFamily="34" charset="-122"/>
                          <a:cs typeface="Georgia" panose="02040502050405020303" pitchFamily="34" charset="-120"/>
                        </a:rPr>
                        <a:t>0.657</a:t>
                      </a:r>
                      <a:endParaRPr lang="en-US" sz="1400" dirty="0">
                        <a:latin typeface="Georgia" panose="02040502050405020303" pitchFamily="34" charset="0"/>
                        <a:ea typeface="Georgia" panose="02040502050405020303" pitchFamily="34" charset="0"/>
                        <a:cs typeface="Georgia" panose="02040502050405020303" pitchFamily="3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75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4F2EC"/>
                          </a:solidFill>
                          <a:latin typeface="Georgia" panose="02040502050405020303" pitchFamily="34" charset="0"/>
                          <a:ea typeface="Georgia" panose="02040502050405020303" pitchFamily="34" charset="-122"/>
                          <a:cs typeface="Georgia" panose="02040502050405020303" pitchFamily="34" charset="-120"/>
                        </a:rPr>
                        <a:t>paper</a:t>
                      </a:r>
                      <a:endParaRPr lang="en-US" sz="1400" dirty="0">
                        <a:latin typeface="Georgia" panose="02040502050405020303" pitchFamily="34" charset="0"/>
                        <a:ea typeface="Georgia" panose="02040502050405020303" pitchFamily="34" charset="0"/>
                        <a:cs typeface="Georgia" panose="02040502050405020303" pitchFamily="3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75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4F2EC"/>
                          </a:solidFill>
                          <a:latin typeface="Georgia" panose="02040502050405020303" pitchFamily="34" charset="0"/>
                          <a:ea typeface="Georgia" panose="02040502050405020303" pitchFamily="34" charset="-122"/>
                          <a:cs typeface="Georgia" panose="02040502050405020303" pitchFamily="34" charset="-120"/>
                        </a:rPr>
                        <a:t>0.835</a:t>
                      </a:r>
                      <a:endParaRPr lang="en-US" sz="1400" dirty="0">
                        <a:latin typeface="Georgia" panose="02040502050405020303" pitchFamily="34" charset="0"/>
                        <a:ea typeface="Georgia" panose="02040502050405020303" pitchFamily="34" charset="0"/>
                        <a:cs typeface="Georgia" panose="02040502050405020303" pitchFamily="3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75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4F2EC"/>
                          </a:solidFill>
                          <a:latin typeface="Georgia" panose="02040502050405020303" pitchFamily="34" charset="0"/>
                          <a:ea typeface="Georgia" panose="02040502050405020303" pitchFamily="34" charset="-122"/>
                          <a:cs typeface="Georgia" panose="02040502050405020303" pitchFamily="34" charset="-120"/>
                        </a:rPr>
                        <a:t>0.798</a:t>
                      </a:r>
                      <a:endParaRPr lang="en-US" sz="1400" dirty="0">
                        <a:latin typeface="Georgia" panose="02040502050405020303" pitchFamily="34" charset="0"/>
                        <a:ea typeface="Georgia" panose="02040502050405020303" pitchFamily="34" charset="0"/>
                        <a:cs typeface="Georgia" panose="02040502050405020303" pitchFamily="3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75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4F2EC"/>
                          </a:solidFill>
                          <a:latin typeface="Georgia" panose="02040502050405020303" pitchFamily="34" charset="0"/>
                          <a:ea typeface="Georgia" panose="02040502050405020303" pitchFamily="34" charset="-122"/>
                          <a:cs typeface="Georgia" panose="02040502050405020303" pitchFamily="34" charset="-120"/>
                        </a:rPr>
                        <a:t>0.816</a:t>
                      </a:r>
                      <a:endParaRPr lang="en-US" sz="1400" dirty="0">
                        <a:latin typeface="Georgia" panose="02040502050405020303" pitchFamily="34" charset="0"/>
                        <a:ea typeface="Georgia" panose="02040502050405020303" pitchFamily="34" charset="0"/>
                        <a:cs typeface="Georgia" panose="02040502050405020303" pitchFamily="3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75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4F2EC"/>
                          </a:solidFill>
                          <a:latin typeface="Georgia" panose="02040502050405020303" pitchFamily="34" charset="0"/>
                          <a:ea typeface="Georgia" panose="02040502050405020303" pitchFamily="34" charset="-122"/>
                          <a:cs typeface="Georgia" panose="02040502050405020303" pitchFamily="34" charset="-120"/>
                        </a:rPr>
                        <a:t>plastic</a:t>
                      </a:r>
                      <a:endParaRPr lang="en-US" sz="1400" dirty="0">
                        <a:latin typeface="Georgia" panose="02040502050405020303" pitchFamily="34" charset="0"/>
                        <a:ea typeface="Georgia" panose="02040502050405020303" pitchFamily="34" charset="0"/>
                        <a:cs typeface="Georgia" panose="02040502050405020303" pitchFamily="3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75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4F2EC"/>
                          </a:solidFill>
                          <a:latin typeface="Georgia" panose="02040502050405020303" pitchFamily="34" charset="0"/>
                          <a:ea typeface="Georgia" panose="02040502050405020303" pitchFamily="34" charset="-122"/>
                          <a:cs typeface="Georgia" panose="02040502050405020303" pitchFamily="34" charset="-120"/>
                        </a:rPr>
                        <a:t>0.770</a:t>
                      </a:r>
                      <a:endParaRPr lang="en-US" sz="1400" dirty="0">
                        <a:latin typeface="Georgia" panose="02040502050405020303" pitchFamily="34" charset="0"/>
                        <a:ea typeface="Georgia" panose="02040502050405020303" pitchFamily="34" charset="0"/>
                        <a:cs typeface="Georgia" panose="02040502050405020303" pitchFamily="3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75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4F2EC"/>
                          </a:solidFill>
                          <a:latin typeface="Georgia" panose="02040502050405020303" pitchFamily="34" charset="0"/>
                          <a:ea typeface="Georgia" panose="02040502050405020303" pitchFamily="34" charset="-122"/>
                          <a:cs typeface="Georgia" panose="02040502050405020303" pitchFamily="34" charset="-120"/>
                        </a:rPr>
                        <a:t>0.644</a:t>
                      </a:r>
                      <a:endParaRPr lang="en-US" sz="1400" dirty="0">
                        <a:latin typeface="Georgia" panose="02040502050405020303" pitchFamily="34" charset="0"/>
                        <a:ea typeface="Georgia" panose="02040502050405020303" pitchFamily="34" charset="0"/>
                        <a:cs typeface="Georgia" panose="02040502050405020303" pitchFamily="3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75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4F2EC"/>
                          </a:solidFill>
                          <a:latin typeface="Georgia" panose="02040502050405020303" pitchFamily="34" charset="0"/>
                          <a:ea typeface="Georgia" panose="02040502050405020303" pitchFamily="34" charset="-122"/>
                          <a:cs typeface="Georgia" panose="02040502050405020303" pitchFamily="34" charset="-120"/>
                        </a:rPr>
                        <a:t>0.701</a:t>
                      </a:r>
                      <a:endParaRPr lang="en-US" sz="1400" dirty="0">
                        <a:latin typeface="Georgia" panose="02040502050405020303" pitchFamily="34" charset="0"/>
                        <a:ea typeface="Georgia" panose="02040502050405020303" pitchFamily="34" charset="0"/>
                        <a:cs typeface="Georgia" panose="02040502050405020303" pitchFamily="3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75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4F2EC"/>
                          </a:solidFill>
                          <a:latin typeface="Georgia" panose="02040502050405020303" pitchFamily="34" charset="0"/>
                          <a:ea typeface="Georgia" panose="02040502050405020303" pitchFamily="34" charset="-122"/>
                          <a:cs typeface="Georgia" panose="02040502050405020303" pitchFamily="34" charset="-120"/>
                        </a:rPr>
                        <a:t>trash</a:t>
                      </a:r>
                      <a:endParaRPr lang="en-US" sz="1400" dirty="0">
                        <a:latin typeface="Georgia" panose="02040502050405020303" pitchFamily="34" charset="0"/>
                        <a:ea typeface="Georgia" panose="02040502050405020303" pitchFamily="34" charset="0"/>
                        <a:cs typeface="Georgia" panose="02040502050405020303" pitchFamily="3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75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4F2EC"/>
                          </a:solidFill>
                          <a:latin typeface="Georgia" panose="02040502050405020303" pitchFamily="34" charset="0"/>
                          <a:ea typeface="Georgia" panose="02040502050405020303" pitchFamily="34" charset="-122"/>
                          <a:cs typeface="Georgia" panose="02040502050405020303" pitchFamily="34" charset="-120"/>
                        </a:rPr>
                        <a:t>0.405</a:t>
                      </a:r>
                      <a:endParaRPr lang="en-US" sz="1400" dirty="0">
                        <a:latin typeface="Georgia" panose="02040502050405020303" pitchFamily="34" charset="0"/>
                        <a:ea typeface="Georgia" panose="02040502050405020303" pitchFamily="34" charset="0"/>
                        <a:cs typeface="Georgia" panose="02040502050405020303" pitchFamily="3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75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4F2EC"/>
                          </a:solidFill>
                          <a:latin typeface="Georgia" panose="02040502050405020303" pitchFamily="34" charset="0"/>
                          <a:ea typeface="Georgia" panose="02040502050405020303" pitchFamily="34" charset="-122"/>
                          <a:cs typeface="Georgia" panose="02040502050405020303" pitchFamily="34" charset="-120"/>
                        </a:rPr>
                        <a:t>0.850</a:t>
                      </a:r>
                      <a:endParaRPr lang="en-US" sz="1400" dirty="0">
                        <a:latin typeface="Georgia" panose="02040502050405020303" pitchFamily="34" charset="0"/>
                        <a:ea typeface="Georgia" panose="02040502050405020303" pitchFamily="34" charset="0"/>
                        <a:cs typeface="Georgia" panose="02040502050405020303" pitchFamily="3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75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4F2EC"/>
                          </a:solidFill>
                          <a:latin typeface="Georgia" panose="02040502050405020303" pitchFamily="34" charset="0"/>
                          <a:ea typeface="Georgia" panose="02040502050405020303" pitchFamily="34" charset="-122"/>
                          <a:cs typeface="Georgia" panose="02040502050405020303" pitchFamily="34" charset="-120"/>
                        </a:rPr>
                        <a:t>0.548</a:t>
                      </a:r>
                      <a:endParaRPr lang="en-US" sz="1400" dirty="0">
                        <a:latin typeface="Georgia" panose="02040502050405020303" pitchFamily="34" charset="0"/>
                        <a:ea typeface="Georgia" panose="02040502050405020303" pitchFamily="34" charset="0"/>
                        <a:cs typeface="Georgia" panose="02040502050405020303" pitchFamily="3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75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75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75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752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24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4231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Challenges, improvements and ethics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572816"/>
            <a:ext cx="5181600" cy="2159794"/>
          </a:xfrm>
          <a:prstGeom prst="roundRect">
            <a:avLst>
              <a:gd name="adj" fmla="val 4557"/>
            </a:avLst>
          </a:prstGeom>
          <a:solidFill>
            <a:srgbClr val="FFFFFF"/>
          </a:solidFill>
          <a:ln w="6350">
            <a:solidFill>
              <a:srgbClr val="D9DC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3150" y="1829991"/>
            <a:ext cx="4807268" cy="29964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31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Challenges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64082" y="2231231"/>
            <a:ext cx="4708716" cy="126960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63195" indent="-163195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4231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Imbalance: 96 trash vs 416 paper training images</a:t>
            </a:r>
            <a:endParaRPr lang="en-US" sz="1400" dirty="0"/>
          </a:p>
          <a:p>
            <a:pPr marL="163195" indent="-163195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4231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Overfitting: about 84% train vs 70% validation</a:t>
            </a:r>
            <a:endParaRPr lang="en-US" sz="1400" dirty="0"/>
          </a:p>
          <a:p>
            <a:pPr marL="163195" indent="-163195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4231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Batch-norm experiment fell to about 47%, so we reverted</a:t>
            </a:r>
            <a:endParaRPr lang="en-US" sz="1400" dirty="0"/>
          </a:p>
          <a:p>
            <a:pPr marL="163195" indent="-163195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4231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Only 2 of 6 online photos correct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03950" y="1569641"/>
            <a:ext cx="5175250" cy="2166144"/>
          </a:xfrm>
          <a:prstGeom prst="roundRect">
            <a:avLst>
              <a:gd name="adj" fmla="val 4690"/>
            </a:avLst>
          </a:prstGeom>
          <a:solidFill>
            <a:srgbClr val="14231F"/>
          </a:solidFill>
        </p:spPr>
      </p:sp>
      <p:sp>
        <p:nvSpPr>
          <p:cNvPr id="7" name="Text 5"/>
          <p:cNvSpPr/>
          <p:nvPr/>
        </p:nvSpPr>
        <p:spPr>
          <a:xfrm>
            <a:off x="6457950" y="1823641"/>
            <a:ext cx="4807268" cy="29964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E8A33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Improvements and ethics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548882" y="2224881"/>
            <a:ext cx="4708716" cy="126960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63195" indent="-163195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F4F2EC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Transfer learning, e.g. MobileNetV2</a:t>
            </a:r>
            <a:endParaRPr lang="en-US" sz="1400" dirty="0"/>
          </a:p>
          <a:p>
            <a:pPr marL="163195" indent="-163195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F4F2EC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More varied photos, including local Nairobi waste, plus stronger augmentation</a:t>
            </a:r>
            <a:endParaRPr lang="en-US" sz="1400" dirty="0"/>
          </a:p>
          <a:p>
            <a:pPr marL="163195" indent="-163195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F4F2EC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Confident errors need a human check</a:t>
            </a:r>
            <a:endParaRPr lang="en-US" sz="1400" dirty="0"/>
          </a:p>
          <a:p>
            <a:pPr marL="163195" indent="-163195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F4F2EC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Automation can affect informal waste pickers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aste Classification with a CNN">
  <a:themeElements>
    <a:clrScheme name="Waste Classification with a CNN">
      <a:dk1>
        <a:srgbClr val="14231F"/>
      </a:dk1>
      <a:lt1>
        <a:srgbClr val="F4F2EC"/>
      </a:lt1>
      <a:dk2>
        <a:srgbClr val="2A3834"/>
      </a:dk2>
      <a:lt2>
        <a:srgbClr val="BCBEB9"/>
      </a:lt2>
      <a:accent1>
        <a:srgbClr val="E8A33D"/>
      </a:accent1>
      <a:accent2>
        <a:srgbClr val="B9D4C8"/>
      </a:accent2>
      <a:accent3>
        <a:srgbClr val="5F675F"/>
      </a:accent3>
      <a:accent4>
        <a:srgbClr val="9AA0A6"/>
      </a:accent4>
      <a:accent5>
        <a:srgbClr val="9A9F9A"/>
      </a:accent5>
      <a:accent6>
        <a:srgbClr val="79807B"/>
      </a:accent6>
      <a:hlink>
        <a:srgbClr val="0563C1"/>
      </a:hlink>
      <a:folHlink>
        <a:srgbClr val="954F72"/>
      </a:folHlink>
    </a:clrScheme>
    <a:fontScheme name="Waste Classification with a CNN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aste Classification with a CNN">
  <a:themeElements>
    <a:clrScheme name="Waste Classification with a CNN">
      <a:dk1>
        <a:srgbClr val="14231F"/>
      </a:dk1>
      <a:lt1>
        <a:srgbClr val="F4F2EC"/>
      </a:lt1>
      <a:dk2>
        <a:srgbClr val="2A3834"/>
      </a:dk2>
      <a:lt2>
        <a:srgbClr val="BCBEB9"/>
      </a:lt2>
      <a:accent1>
        <a:srgbClr val="E8A33D"/>
      </a:accent1>
      <a:accent2>
        <a:srgbClr val="B9D4C8"/>
      </a:accent2>
      <a:accent3>
        <a:srgbClr val="5F675F"/>
      </a:accent3>
      <a:accent4>
        <a:srgbClr val="9AA0A6"/>
      </a:accent4>
      <a:accent5>
        <a:srgbClr val="9A9F9A"/>
      </a:accent5>
      <a:accent6>
        <a:srgbClr val="79807B"/>
      </a:accent6>
      <a:hlink>
        <a:srgbClr val="0563C1"/>
      </a:hlink>
      <a:folHlink>
        <a:srgbClr val="954F72"/>
      </a:folHlink>
    </a:clrScheme>
    <a:fontScheme name="Waste Classification with a CNN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2297</Words>
  <Application>WPS Presentation</Application>
  <PresentationFormat>On-screen Show (16:9)</PresentationFormat>
  <Paragraphs>248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6" baseType="lpstr">
      <vt:lpstr>Arial</vt:lpstr>
      <vt:lpstr>SimSun</vt:lpstr>
      <vt:lpstr>Wingdings</vt:lpstr>
      <vt:lpstr>Georgia</vt:lpstr>
      <vt:lpstr>Georgia</vt:lpstr>
      <vt:lpstr>Georgia</vt:lpstr>
      <vt:lpstr>Microsoft YaHei</vt:lpstr>
      <vt:lpstr>Arial Unicode MS</vt:lpstr>
      <vt:lpstr>Calibri</vt:lpstr>
      <vt:lpstr>Waste Classification with a CNN</vt:lpstr>
      <vt:lpstr>Waste Classification with a CNN</vt:lpstr>
      <vt:lpstr>Dataset: 2,527 photos in six classes</vt:lpstr>
      <vt:lpstr>CNN architecture</vt:lpstr>
      <vt:lpstr>Predictions on six new photos</vt:lpstr>
      <vt:lpstr>Test results on 380 unseen images</vt:lpstr>
      <vt:lpstr>Challenges, improvements and ethics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Waste Classification with a CNN</dc:title>
  <dc:creator/>
  <cp:lastModifiedBy>Hellen Mbugua</cp:lastModifiedBy>
  <cp:revision>2</cp:revision>
  <dcterms:created xsi:type="dcterms:W3CDTF">2026-10-28T08:51:00Z</dcterms:created>
  <dcterms:modified xsi:type="dcterms:W3CDTF">2026-10-28T08:52:46Z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8B45E2A61A974FDAAAD53B906DE9D60D_12</vt:lpwstr>
  </property>
  <property fmtid="{D5CDD505-2E9C-101B-9397-08002B2CF9AE}" pid="3" name="KSOProductBuildVer">
    <vt:lpwstr>1033-12.1.0.29162</vt:lpwstr>
  </property>
</Properties>
</file>